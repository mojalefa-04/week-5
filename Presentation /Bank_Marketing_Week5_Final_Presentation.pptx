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7"/>
    <p:restoredTop sz="94658"/>
  </p:normalViewPr>
  <p:slideViewPr>
    <p:cSldViewPr snapToGrid="0" snapToObjects="1">
      <p:cViewPr varScale="1">
        <p:scale>
          <a:sx n="120" d="100"/>
          <a:sy n="120" d="100"/>
        </p:scale>
        <p:origin x="43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10789920" cy="640080"/>
          </a:xfrm>
          <a:prstGeom prst="rect">
            <a:avLst/>
          </a:prstGeom>
          <a:noFill/>
        </p:spPr>
        <p:txBody>
          <a:bodyPr wrap="square">
            <a:spAutoFit/>
          </a:bodyPr>
          <a:lstStyle/>
          <a:p>
            <a:pPr>
              <a:defRPr sz="3400" b="1">
                <a:solidFill>
                  <a:srgbClr val="FFFFFF"/>
                </a:solidFill>
              </a:defRPr>
            </a:pPr>
            <a:r>
              <a:t>BANK MARKETING</a:t>
            </a:r>
          </a:p>
        </p:txBody>
      </p:sp>
      <p:sp>
        <p:nvSpPr>
          <p:cNvPr id="4" name="TextBox 3"/>
          <p:cNvSpPr txBox="1"/>
          <p:nvPr/>
        </p:nvSpPr>
        <p:spPr>
          <a:xfrm>
            <a:off x="731520" y="2057400"/>
            <a:ext cx="10789920" cy="548640"/>
          </a:xfrm>
          <a:prstGeom prst="rect">
            <a:avLst/>
          </a:prstGeom>
          <a:noFill/>
        </p:spPr>
        <p:txBody>
          <a:bodyPr wrap="square">
            <a:spAutoFit/>
          </a:bodyPr>
          <a:lstStyle/>
          <a:p>
            <a:pPr>
              <a:defRPr sz="2500" b="0">
                <a:solidFill>
                  <a:srgbClr val="D2E1F0"/>
                </a:solidFill>
              </a:defRPr>
            </a:pPr>
            <a:r>
              <a:t>Business Analytics Case Study</a:t>
            </a:r>
          </a:p>
        </p:txBody>
      </p:sp>
      <p:sp>
        <p:nvSpPr>
          <p:cNvPr id="5" name="TextBox 4"/>
          <p:cNvSpPr txBox="1"/>
          <p:nvPr/>
        </p:nvSpPr>
        <p:spPr>
          <a:xfrm>
            <a:off x="731520" y="2926080"/>
            <a:ext cx="10789920" cy="457200"/>
          </a:xfrm>
          <a:prstGeom prst="rect">
            <a:avLst/>
          </a:prstGeom>
          <a:noFill/>
        </p:spPr>
        <p:txBody>
          <a:bodyPr wrap="square">
            <a:spAutoFit/>
          </a:bodyPr>
          <a:lstStyle/>
          <a:p>
            <a:pPr>
              <a:defRPr sz="1600" b="0">
                <a:solidFill>
                  <a:srgbClr val="FFFFFF"/>
                </a:solidFill>
              </a:defRPr>
            </a:pPr>
            <a:r>
              <a:t>AnalystLab Africa Internship Program • Week 5</a:t>
            </a:r>
          </a:p>
        </p:txBody>
      </p:sp>
      <p:sp>
        <p:nvSpPr>
          <p:cNvPr id="6" name="TextBox 5"/>
          <p:cNvSpPr txBox="1"/>
          <p:nvPr/>
        </p:nvSpPr>
        <p:spPr>
          <a:xfrm>
            <a:off x="731520" y="3886200"/>
            <a:ext cx="9875520" cy="914400"/>
          </a:xfrm>
          <a:prstGeom prst="rect">
            <a:avLst/>
          </a:prstGeom>
          <a:noFill/>
        </p:spPr>
        <p:txBody>
          <a:bodyPr wrap="square">
            <a:spAutoFit/>
          </a:bodyPr>
          <a:lstStyle/>
          <a:p>
            <a:pPr>
              <a:defRPr sz="1800" b="0">
                <a:solidFill>
                  <a:srgbClr val="FFFFFF"/>
                </a:solidFill>
              </a:defRPr>
            </a:pPr>
            <a:r>
              <a:t>Using Python to identify customer segments and campaign factors associated with term-deposit subscriptions.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B42"/>
                </a:solidFill>
              </a:defRPr>
            </a:pPr>
            <a:r>
              <a:t>1. Business Problem</a:t>
            </a:r>
          </a:p>
        </p:txBody>
      </p:sp>
      <p:sp>
        <p:nvSpPr>
          <p:cNvPr id="4" name="TextBox 3"/>
          <p:cNvSpPr txBox="1"/>
          <p:nvPr/>
        </p:nvSpPr>
        <p:spPr>
          <a:xfrm>
            <a:off x="685800" y="1325880"/>
            <a:ext cx="10789920" cy="731520"/>
          </a:xfrm>
          <a:prstGeom prst="rect">
            <a:avLst/>
          </a:prstGeom>
          <a:noFill/>
        </p:spPr>
        <p:txBody>
          <a:bodyPr wrap="square">
            <a:spAutoFit/>
          </a:bodyPr>
          <a:lstStyle/>
          <a:p>
            <a:pPr>
              <a:defRPr sz="2000" b="1">
                <a:solidFill>
                  <a:srgbClr val="182B42"/>
                </a:solidFill>
              </a:defRPr>
            </a:pPr>
            <a:r>
              <a:rPr dirty="0"/>
              <a:t>The bank invests resources in marketing campaigns, but customers do not respond equally.</a:t>
            </a:r>
          </a:p>
        </p:txBody>
      </p:sp>
      <p:sp>
        <p:nvSpPr>
          <p:cNvPr id="5" name="TextBox 4"/>
          <p:cNvSpPr txBox="1"/>
          <p:nvPr/>
        </p:nvSpPr>
        <p:spPr>
          <a:xfrm>
            <a:off x="822960" y="2240280"/>
            <a:ext cx="10332720" cy="2286000"/>
          </a:xfrm>
          <a:prstGeom prst="rect">
            <a:avLst/>
          </a:prstGeom>
          <a:noFill/>
        </p:spPr>
        <p:txBody>
          <a:bodyPr wrap="square">
            <a:spAutoFit/>
          </a:bodyPr>
          <a:lstStyle/>
          <a:p>
            <a:pPr>
              <a:spcAft>
                <a:spcPts val="1000"/>
              </a:spcAft>
              <a:defRPr sz="1800">
                <a:solidFill>
                  <a:srgbClr val="232323"/>
                </a:solidFill>
              </a:defRPr>
            </a:pPr>
            <a:r>
              <a:rPr dirty="0"/>
              <a:t>Which customer characteristics are associated with higher subscription rates?</a:t>
            </a:r>
          </a:p>
          <a:p>
            <a:pPr>
              <a:spcAft>
                <a:spcPts val="1000"/>
              </a:spcAft>
              <a:defRPr sz="1800">
                <a:solidFill>
                  <a:srgbClr val="232323"/>
                </a:solidFill>
              </a:defRPr>
            </a:pPr>
            <a:r>
              <a:rPr dirty="0"/>
              <a:t>Which campaign/contact factors appear to influence customer response?</a:t>
            </a:r>
          </a:p>
          <a:p>
            <a:pPr>
              <a:spcAft>
                <a:spcPts val="1000"/>
              </a:spcAft>
              <a:defRPr sz="1800">
                <a:solidFill>
                  <a:srgbClr val="232323"/>
                </a:solidFill>
              </a:defRPr>
            </a:pPr>
            <a:r>
              <a:rPr dirty="0"/>
              <a:t>How can the bank focus its marketing resources on higher-potential segments?</a:t>
            </a:r>
          </a:p>
        </p:txBody>
      </p:sp>
      <p:sp>
        <p:nvSpPr>
          <p:cNvPr id="6" name="TextBox 5"/>
          <p:cNvSpPr txBox="1"/>
          <p:nvPr/>
        </p:nvSpPr>
        <p:spPr>
          <a:xfrm>
            <a:off x="822960" y="4892040"/>
            <a:ext cx="1828800" cy="320040"/>
          </a:xfrm>
          <a:prstGeom prst="rect">
            <a:avLst/>
          </a:prstGeom>
          <a:noFill/>
        </p:spPr>
        <p:txBody>
          <a:bodyPr wrap="square">
            <a:spAutoFit/>
          </a:bodyPr>
          <a:lstStyle/>
          <a:p>
            <a:pPr>
              <a:defRPr sz="1500" b="1">
                <a:solidFill>
                  <a:srgbClr val="2A5B8C"/>
                </a:solidFill>
              </a:defRPr>
            </a:pPr>
            <a:r>
              <a:t>Business objective</a:t>
            </a:r>
          </a:p>
        </p:txBody>
      </p:sp>
      <p:sp>
        <p:nvSpPr>
          <p:cNvPr id="7" name="TextBox 6"/>
          <p:cNvSpPr txBox="1"/>
          <p:nvPr/>
        </p:nvSpPr>
        <p:spPr>
          <a:xfrm>
            <a:off x="2423160" y="4828032"/>
            <a:ext cx="8686800" cy="594360"/>
          </a:xfrm>
          <a:prstGeom prst="rect">
            <a:avLst/>
          </a:prstGeom>
          <a:noFill/>
        </p:spPr>
        <p:txBody>
          <a:bodyPr wrap="square">
            <a:spAutoFit/>
          </a:bodyPr>
          <a:lstStyle/>
          <a:p>
            <a:pPr>
              <a:defRPr sz="1600" b="0">
                <a:solidFill>
                  <a:srgbClr val="232323"/>
                </a:solidFill>
              </a:defRPr>
            </a:pPr>
            <a:r>
              <a:t>Use descriptive analytics to identify patterns that can support more targeted and efficient marketing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B42"/>
                </a:solidFill>
              </a:defRPr>
            </a:pPr>
            <a:r>
              <a:t>2. Dataset Overview</a:t>
            </a:r>
          </a:p>
        </p:txBody>
      </p:sp>
      <p:sp>
        <p:nvSpPr>
          <p:cNvPr id="4" name="TextBox 3"/>
          <p:cNvSpPr txBox="1"/>
          <p:nvPr/>
        </p:nvSpPr>
        <p:spPr>
          <a:xfrm>
            <a:off x="621792" y="960120"/>
            <a:ext cx="10789920" cy="411480"/>
          </a:xfrm>
          <a:prstGeom prst="rect">
            <a:avLst/>
          </a:prstGeom>
          <a:noFill/>
        </p:spPr>
        <p:txBody>
          <a:bodyPr wrap="none">
            <a:spAutoFit/>
          </a:bodyPr>
          <a:lstStyle/>
          <a:p>
            <a:pPr>
              <a:defRPr sz="1200">
                <a:solidFill>
                  <a:srgbClr val="2A5B8C"/>
                </a:solidFill>
              </a:defRPr>
            </a:pPr>
            <a:r>
              <a:t>Bank Marketing Dataset</a:t>
            </a:r>
          </a:p>
        </p:txBody>
      </p:sp>
      <p:sp>
        <p:nvSpPr>
          <p:cNvPr id="5" name="Rounded Rectangle 4"/>
          <p:cNvSpPr/>
          <p:nvPr/>
        </p:nvSpPr>
        <p:spPr>
          <a:xfrm>
            <a:off x="685800" y="1417320"/>
            <a:ext cx="2057400" cy="1143000"/>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572768"/>
            <a:ext cx="1828800" cy="411480"/>
          </a:xfrm>
          <a:prstGeom prst="rect">
            <a:avLst/>
          </a:prstGeom>
          <a:noFill/>
        </p:spPr>
        <p:txBody>
          <a:bodyPr wrap="square">
            <a:spAutoFit/>
          </a:bodyPr>
          <a:lstStyle/>
          <a:p>
            <a:pPr>
              <a:defRPr sz="2400" b="1">
                <a:solidFill>
                  <a:srgbClr val="182B42"/>
                </a:solidFill>
              </a:defRPr>
            </a:pPr>
            <a:r>
              <a:t>11,162</a:t>
            </a:r>
          </a:p>
        </p:txBody>
      </p:sp>
      <p:sp>
        <p:nvSpPr>
          <p:cNvPr id="7" name="TextBox 6"/>
          <p:cNvSpPr txBox="1"/>
          <p:nvPr/>
        </p:nvSpPr>
        <p:spPr>
          <a:xfrm>
            <a:off x="795528" y="1993392"/>
            <a:ext cx="1828800" cy="320040"/>
          </a:xfrm>
          <a:prstGeom prst="rect">
            <a:avLst/>
          </a:prstGeom>
          <a:noFill/>
        </p:spPr>
        <p:txBody>
          <a:bodyPr wrap="square">
            <a:spAutoFit/>
          </a:bodyPr>
          <a:lstStyle/>
          <a:p>
            <a:pPr>
              <a:defRPr sz="1100" b="0">
                <a:solidFill>
                  <a:srgbClr val="232323"/>
                </a:solidFill>
              </a:defRPr>
            </a:pPr>
            <a:r>
              <a:rPr dirty="0"/>
              <a:t>customer records</a:t>
            </a:r>
          </a:p>
        </p:txBody>
      </p:sp>
      <p:sp>
        <p:nvSpPr>
          <p:cNvPr id="8" name="Rounded Rectangle 7"/>
          <p:cNvSpPr/>
          <p:nvPr/>
        </p:nvSpPr>
        <p:spPr>
          <a:xfrm>
            <a:off x="2926080" y="1417320"/>
            <a:ext cx="2057400" cy="1143000"/>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35808" y="1572768"/>
            <a:ext cx="1828800" cy="411480"/>
          </a:xfrm>
          <a:prstGeom prst="rect">
            <a:avLst/>
          </a:prstGeom>
          <a:noFill/>
        </p:spPr>
        <p:txBody>
          <a:bodyPr wrap="square">
            <a:spAutoFit/>
          </a:bodyPr>
          <a:lstStyle/>
          <a:p>
            <a:pPr>
              <a:defRPr sz="2400" b="1">
                <a:solidFill>
                  <a:srgbClr val="182B42"/>
                </a:solidFill>
              </a:defRPr>
            </a:pPr>
            <a:r>
              <a:t>17</a:t>
            </a:r>
          </a:p>
        </p:txBody>
      </p:sp>
      <p:sp>
        <p:nvSpPr>
          <p:cNvPr id="10" name="TextBox 9"/>
          <p:cNvSpPr txBox="1"/>
          <p:nvPr/>
        </p:nvSpPr>
        <p:spPr>
          <a:xfrm>
            <a:off x="3035808" y="1993392"/>
            <a:ext cx="1828800" cy="320040"/>
          </a:xfrm>
          <a:prstGeom prst="rect">
            <a:avLst/>
          </a:prstGeom>
          <a:noFill/>
        </p:spPr>
        <p:txBody>
          <a:bodyPr wrap="square">
            <a:spAutoFit/>
          </a:bodyPr>
          <a:lstStyle/>
          <a:p>
            <a:pPr>
              <a:defRPr sz="1100" b="0">
                <a:solidFill>
                  <a:srgbClr val="232323"/>
                </a:solidFill>
              </a:defRPr>
            </a:pPr>
            <a:r>
              <a:t>variables</a:t>
            </a:r>
          </a:p>
        </p:txBody>
      </p:sp>
      <p:sp>
        <p:nvSpPr>
          <p:cNvPr id="11" name="Rounded Rectangle 10"/>
          <p:cNvSpPr/>
          <p:nvPr/>
        </p:nvSpPr>
        <p:spPr>
          <a:xfrm>
            <a:off x="5166360" y="1417320"/>
            <a:ext cx="2057400" cy="1143000"/>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76088" y="1572768"/>
            <a:ext cx="1828800" cy="411480"/>
          </a:xfrm>
          <a:prstGeom prst="rect">
            <a:avLst/>
          </a:prstGeom>
          <a:noFill/>
        </p:spPr>
        <p:txBody>
          <a:bodyPr wrap="square">
            <a:spAutoFit/>
          </a:bodyPr>
          <a:lstStyle/>
          <a:p>
            <a:pPr>
              <a:defRPr sz="2400" b="1">
                <a:solidFill>
                  <a:srgbClr val="182B42"/>
                </a:solidFill>
              </a:defRPr>
            </a:pPr>
            <a:r>
              <a:t>5,289</a:t>
            </a:r>
          </a:p>
        </p:txBody>
      </p:sp>
      <p:sp>
        <p:nvSpPr>
          <p:cNvPr id="13" name="TextBox 12"/>
          <p:cNvSpPr txBox="1"/>
          <p:nvPr/>
        </p:nvSpPr>
        <p:spPr>
          <a:xfrm>
            <a:off x="5276088" y="1993392"/>
            <a:ext cx="1828800" cy="320040"/>
          </a:xfrm>
          <a:prstGeom prst="rect">
            <a:avLst/>
          </a:prstGeom>
          <a:noFill/>
        </p:spPr>
        <p:txBody>
          <a:bodyPr wrap="square">
            <a:spAutoFit/>
          </a:bodyPr>
          <a:lstStyle/>
          <a:p>
            <a:pPr>
              <a:defRPr sz="1100" b="0">
                <a:solidFill>
                  <a:srgbClr val="232323"/>
                </a:solidFill>
              </a:defRPr>
            </a:pPr>
            <a:r>
              <a:t>subscriptions</a:t>
            </a:r>
          </a:p>
        </p:txBody>
      </p:sp>
      <p:sp>
        <p:nvSpPr>
          <p:cNvPr id="14" name="Rounded Rectangle 13"/>
          <p:cNvSpPr/>
          <p:nvPr/>
        </p:nvSpPr>
        <p:spPr>
          <a:xfrm>
            <a:off x="7406640" y="1417320"/>
            <a:ext cx="2057400" cy="1143000"/>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16367" y="1572768"/>
            <a:ext cx="1828800" cy="411480"/>
          </a:xfrm>
          <a:prstGeom prst="rect">
            <a:avLst/>
          </a:prstGeom>
          <a:noFill/>
        </p:spPr>
        <p:txBody>
          <a:bodyPr wrap="square">
            <a:spAutoFit/>
          </a:bodyPr>
          <a:lstStyle/>
          <a:p>
            <a:pPr>
              <a:defRPr sz="2400" b="1">
                <a:solidFill>
                  <a:srgbClr val="182B42"/>
                </a:solidFill>
              </a:defRPr>
            </a:pPr>
            <a:r>
              <a:t>47.4%</a:t>
            </a:r>
          </a:p>
        </p:txBody>
      </p:sp>
      <p:sp>
        <p:nvSpPr>
          <p:cNvPr id="16" name="TextBox 15"/>
          <p:cNvSpPr txBox="1"/>
          <p:nvPr/>
        </p:nvSpPr>
        <p:spPr>
          <a:xfrm>
            <a:off x="7516367" y="1993392"/>
            <a:ext cx="1828800" cy="320040"/>
          </a:xfrm>
          <a:prstGeom prst="rect">
            <a:avLst/>
          </a:prstGeom>
          <a:noFill/>
        </p:spPr>
        <p:txBody>
          <a:bodyPr wrap="square">
            <a:spAutoFit/>
          </a:bodyPr>
          <a:lstStyle/>
          <a:p>
            <a:pPr>
              <a:defRPr sz="1100" b="0">
                <a:solidFill>
                  <a:srgbClr val="232323"/>
                </a:solidFill>
              </a:defRPr>
            </a:pPr>
            <a:r>
              <a:t>overall subscription rate</a:t>
            </a:r>
          </a:p>
        </p:txBody>
      </p:sp>
      <p:sp>
        <p:nvSpPr>
          <p:cNvPr id="17" name="TextBox 16"/>
          <p:cNvSpPr txBox="1"/>
          <p:nvPr/>
        </p:nvSpPr>
        <p:spPr>
          <a:xfrm>
            <a:off x="777240" y="2971800"/>
            <a:ext cx="10424160" cy="2103120"/>
          </a:xfrm>
          <a:prstGeom prst="rect">
            <a:avLst/>
          </a:prstGeom>
          <a:noFill/>
        </p:spPr>
        <p:txBody>
          <a:bodyPr wrap="square">
            <a:spAutoFit/>
          </a:bodyPr>
          <a:lstStyle/>
          <a:p>
            <a:pPr>
              <a:spcAft>
                <a:spcPts val="1000"/>
              </a:spcAft>
              <a:defRPr sz="1700">
                <a:solidFill>
                  <a:srgbClr val="232323"/>
                </a:solidFill>
              </a:defRPr>
            </a:pPr>
            <a:r>
              <a:t>Target variable: deposit — whether the customer subscribed to a term deposit.</a:t>
            </a:r>
          </a:p>
          <a:p>
            <a:pPr>
              <a:spcAft>
                <a:spcPts val="1000"/>
              </a:spcAft>
              <a:defRPr sz="1700">
                <a:solidFill>
                  <a:srgbClr val="232323"/>
                </a:solidFill>
              </a:defRPr>
            </a:pPr>
            <a:r>
              <a:t>Key variables include age, job, education, marital status, contact method, campaign month, previous outcome and call duration.</a:t>
            </a:r>
          </a:p>
          <a:p>
            <a:pPr>
              <a:spcAft>
                <a:spcPts val="1000"/>
              </a:spcAft>
              <a:defRPr sz="1700">
                <a:solidFill>
                  <a:srgbClr val="232323"/>
                </a:solidFill>
              </a:defRPr>
            </a:pPr>
            <a:r>
              <a:t>No missing values were detected and no duplicate records were found in the supplied dataset.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B42"/>
                </a:solidFill>
              </a:defRPr>
            </a:pPr>
            <a:r>
              <a:t>3. Customer Profile</a:t>
            </a:r>
          </a:p>
        </p:txBody>
      </p:sp>
      <p:sp>
        <p:nvSpPr>
          <p:cNvPr id="4" name="TextBox 3"/>
          <p:cNvSpPr txBox="1"/>
          <p:nvPr/>
        </p:nvSpPr>
        <p:spPr>
          <a:xfrm>
            <a:off x="621792" y="960120"/>
            <a:ext cx="10789920" cy="411480"/>
          </a:xfrm>
          <a:prstGeom prst="rect">
            <a:avLst/>
          </a:prstGeom>
          <a:noFill/>
        </p:spPr>
        <p:txBody>
          <a:bodyPr wrap="none">
            <a:spAutoFit/>
          </a:bodyPr>
          <a:lstStyle/>
          <a:p>
            <a:pPr>
              <a:defRPr sz="1200">
                <a:solidFill>
                  <a:srgbClr val="2A5B8C"/>
                </a:solidFill>
              </a:defRPr>
            </a:pPr>
            <a:r>
              <a:t>Age distribution and subscription patterns</a:t>
            </a:r>
          </a:p>
        </p:txBody>
      </p:sp>
      <p:pic>
        <p:nvPicPr>
          <p:cNvPr id="5" name="Picture 4" descr="age.png"/>
          <p:cNvPicPr>
            <a:picLocks noChangeAspect="1"/>
          </p:cNvPicPr>
          <p:nvPr/>
        </p:nvPicPr>
        <p:blipFill>
          <a:blip r:embed="rId2"/>
          <a:stretch>
            <a:fillRect/>
          </a:stretch>
        </p:blipFill>
        <p:spPr>
          <a:xfrm>
            <a:off x="640080" y="1325880"/>
            <a:ext cx="5303520" cy="2978689"/>
          </a:xfrm>
          <a:prstGeom prst="rect">
            <a:avLst/>
          </a:prstGeom>
        </p:spPr>
      </p:pic>
      <p:pic>
        <p:nvPicPr>
          <p:cNvPr id="6" name="Picture 5" descr="age_subscription.png"/>
          <p:cNvPicPr>
            <a:picLocks noChangeAspect="1"/>
          </p:cNvPicPr>
          <p:nvPr/>
        </p:nvPicPr>
        <p:blipFill>
          <a:blip r:embed="rId3"/>
          <a:stretch>
            <a:fillRect/>
          </a:stretch>
        </p:blipFill>
        <p:spPr>
          <a:xfrm>
            <a:off x="6172200" y="1325880"/>
            <a:ext cx="5303520" cy="2981091"/>
          </a:xfrm>
          <a:prstGeom prst="rect">
            <a:avLst/>
          </a:prstGeom>
        </p:spPr>
      </p:pic>
      <p:sp>
        <p:nvSpPr>
          <p:cNvPr id="7" name="TextBox 6"/>
          <p:cNvSpPr txBox="1"/>
          <p:nvPr/>
        </p:nvSpPr>
        <p:spPr>
          <a:xfrm>
            <a:off x="777240" y="5486400"/>
            <a:ext cx="10607040" cy="640080"/>
          </a:xfrm>
          <a:prstGeom prst="rect">
            <a:avLst/>
          </a:prstGeom>
          <a:noFill/>
        </p:spPr>
        <p:txBody>
          <a:bodyPr wrap="square">
            <a:spAutoFit/>
          </a:bodyPr>
          <a:lstStyle/>
          <a:p>
            <a:pPr>
              <a:defRPr sz="1500" b="0">
                <a:solidFill>
                  <a:srgbClr val="232323"/>
                </a:solidFill>
              </a:defRPr>
            </a:pPr>
            <a:r>
              <a:t>Insight: Subscribers and non-subscribers have broadly similar age distributions. Age alone does not appear to be a strong differentiator.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B42"/>
                </a:solidFill>
              </a:defRPr>
            </a:pPr>
            <a:r>
              <a:t>4. Customer Segments</a:t>
            </a:r>
          </a:p>
        </p:txBody>
      </p:sp>
      <p:sp>
        <p:nvSpPr>
          <p:cNvPr id="4" name="TextBox 3"/>
          <p:cNvSpPr txBox="1"/>
          <p:nvPr/>
        </p:nvSpPr>
        <p:spPr>
          <a:xfrm>
            <a:off x="621792" y="960120"/>
            <a:ext cx="10789920" cy="411480"/>
          </a:xfrm>
          <a:prstGeom prst="rect">
            <a:avLst/>
          </a:prstGeom>
          <a:noFill/>
        </p:spPr>
        <p:txBody>
          <a:bodyPr wrap="none">
            <a:spAutoFit/>
          </a:bodyPr>
          <a:lstStyle/>
          <a:p>
            <a:pPr>
              <a:defRPr sz="1200">
                <a:solidFill>
                  <a:srgbClr val="2A5B8C"/>
                </a:solidFill>
              </a:defRPr>
            </a:pPr>
            <a:r>
              <a:t>Job, education and marital status</a:t>
            </a:r>
          </a:p>
        </p:txBody>
      </p:sp>
      <p:pic>
        <p:nvPicPr>
          <p:cNvPr id="5" name="Picture 4" descr="job.png"/>
          <p:cNvPicPr>
            <a:picLocks noChangeAspect="1"/>
          </p:cNvPicPr>
          <p:nvPr/>
        </p:nvPicPr>
        <p:blipFill>
          <a:blip r:embed="rId2"/>
          <a:stretch>
            <a:fillRect/>
          </a:stretch>
        </p:blipFill>
        <p:spPr>
          <a:xfrm>
            <a:off x="502920" y="1234440"/>
            <a:ext cx="5577840" cy="3440060"/>
          </a:xfrm>
          <a:prstGeom prst="rect">
            <a:avLst/>
          </a:prstGeom>
        </p:spPr>
      </p:pic>
      <p:pic>
        <p:nvPicPr>
          <p:cNvPr id="6" name="Picture 5" descr="education.png"/>
          <p:cNvPicPr>
            <a:picLocks noChangeAspect="1"/>
          </p:cNvPicPr>
          <p:nvPr/>
        </p:nvPicPr>
        <p:blipFill>
          <a:blip r:embed="rId3"/>
          <a:stretch>
            <a:fillRect/>
          </a:stretch>
        </p:blipFill>
        <p:spPr>
          <a:xfrm>
            <a:off x="6172200" y="1234440"/>
            <a:ext cx="5394960" cy="3036840"/>
          </a:xfrm>
          <a:prstGeom prst="rect">
            <a:avLst/>
          </a:prstGeom>
        </p:spPr>
      </p:pic>
      <p:sp>
        <p:nvSpPr>
          <p:cNvPr id="7" name="TextBox 6"/>
          <p:cNvSpPr txBox="1"/>
          <p:nvPr/>
        </p:nvSpPr>
        <p:spPr>
          <a:xfrm>
            <a:off x="685800" y="5257800"/>
            <a:ext cx="5303520" cy="640080"/>
          </a:xfrm>
          <a:prstGeom prst="rect">
            <a:avLst/>
          </a:prstGeom>
          <a:noFill/>
        </p:spPr>
        <p:txBody>
          <a:bodyPr wrap="square">
            <a:spAutoFit/>
          </a:bodyPr>
          <a:lstStyle/>
          <a:p>
            <a:pPr>
              <a:defRPr sz="1400" b="0">
                <a:solidFill>
                  <a:srgbClr val="232323"/>
                </a:solidFill>
              </a:defRPr>
            </a:pPr>
            <a:r>
              <a:t>Job: students (74.7%) and retirees (66.3%) show the highest subscription rates.</a:t>
            </a:r>
          </a:p>
        </p:txBody>
      </p:sp>
      <p:sp>
        <p:nvSpPr>
          <p:cNvPr id="8" name="TextBox 7"/>
          <p:cNvSpPr txBox="1"/>
          <p:nvPr/>
        </p:nvSpPr>
        <p:spPr>
          <a:xfrm>
            <a:off x="6355080" y="5257800"/>
            <a:ext cx="5120640" cy="640080"/>
          </a:xfrm>
          <a:prstGeom prst="rect">
            <a:avLst/>
          </a:prstGeom>
          <a:noFill/>
        </p:spPr>
        <p:txBody>
          <a:bodyPr wrap="square">
            <a:spAutoFit/>
          </a:bodyPr>
          <a:lstStyle/>
          <a:p>
            <a:pPr>
              <a:defRPr sz="1400" b="0">
                <a:solidFill>
                  <a:srgbClr val="232323"/>
                </a:solidFill>
              </a:defRPr>
            </a:pPr>
            <a:r>
              <a:t>Education: tertiary-educated customers have a higher rate (54.1%) than primary education (39.4%).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B42"/>
                </a:solidFill>
              </a:defRPr>
            </a:pPr>
            <a:r>
              <a:t>5. Contact Strategy</a:t>
            </a:r>
          </a:p>
        </p:txBody>
      </p:sp>
      <p:sp>
        <p:nvSpPr>
          <p:cNvPr id="4" name="TextBox 3"/>
          <p:cNvSpPr txBox="1"/>
          <p:nvPr/>
        </p:nvSpPr>
        <p:spPr>
          <a:xfrm>
            <a:off x="621792" y="960120"/>
            <a:ext cx="10789920" cy="411480"/>
          </a:xfrm>
          <a:prstGeom prst="rect">
            <a:avLst/>
          </a:prstGeom>
          <a:noFill/>
        </p:spPr>
        <p:txBody>
          <a:bodyPr wrap="none">
            <a:spAutoFit/>
          </a:bodyPr>
          <a:lstStyle/>
          <a:p>
            <a:pPr>
              <a:defRPr sz="1200">
                <a:solidFill>
                  <a:srgbClr val="2A5B8C"/>
                </a:solidFill>
              </a:defRPr>
            </a:pPr>
            <a:r>
              <a:t>Contact method and previous campaign outcome</a:t>
            </a:r>
          </a:p>
        </p:txBody>
      </p:sp>
      <p:pic>
        <p:nvPicPr>
          <p:cNvPr id="5" name="Picture 4" descr="contact.png"/>
          <p:cNvPicPr>
            <a:picLocks noChangeAspect="1"/>
          </p:cNvPicPr>
          <p:nvPr/>
        </p:nvPicPr>
        <p:blipFill>
          <a:blip r:embed="rId2"/>
          <a:stretch>
            <a:fillRect/>
          </a:stretch>
        </p:blipFill>
        <p:spPr>
          <a:xfrm>
            <a:off x="685800" y="1325880"/>
            <a:ext cx="5212080" cy="2933897"/>
          </a:xfrm>
          <a:prstGeom prst="rect">
            <a:avLst/>
          </a:prstGeom>
        </p:spPr>
      </p:pic>
      <p:pic>
        <p:nvPicPr>
          <p:cNvPr id="6" name="Picture 5" descr="poutcome.png"/>
          <p:cNvPicPr>
            <a:picLocks noChangeAspect="1"/>
          </p:cNvPicPr>
          <p:nvPr/>
        </p:nvPicPr>
        <p:blipFill>
          <a:blip r:embed="rId3"/>
          <a:stretch>
            <a:fillRect/>
          </a:stretch>
        </p:blipFill>
        <p:spPr>
          <a:xfrm>
            <a:off x="6172200" y="1325880"/>
            <a:ext cx="5212080" cy="2924976"/>
          </a:xfrm>
          <a:prstGeom prst="rect">
            <a:avLst/>
          </a:prstGeom>
        </p:spPr>
      </p:pic>
      <p:sp>
        <p:nvSpPr>
          <p:cNvPr id="7" name="TextBox 6"/>
          <p:cNvSpPr txBox="1"/>
          <p:nvPr/>
        </p:nvSpPr>
        <p:spPr>
          <a:xfrm>
            <a:off x="731520" y="5303520"/>
            <a:ext cx="5212080" cy="685800"/>
          </a:xfrm>
          <a:prstGeom prst="rect">
            <a:avLst/>
          </a:prstGeom>
          <a:noFill/>
        </p:spPr>
        <p:txBody>
          <a:bodyPr wrap="square">
            <a:spAutoFit/>
          </a:bodyPr>
          <a:lstStyle/>
          <a:p>
            <a:pPr>
              <a:defRPr sz="1400" b="0">
                <a:solidFill>
                  <a:srgbClr val="232323"/>
                </a:solidFill>
              </a:defRPr>
            </a:pPr>
            <a:r>
              <a:t>Cellular contacts: 54.3% subscription rate vs 22.6% for customers with an unknown contact method.</a:t>
            </a:r>
          </a:p>
        </p:txBody>
      </p:sp>
      <p:sp>
        <p:nvSpPr>
          <p:cNvPr id="8" name="TextBox 7"/>
          <p:cNvSpPr txBox="1"/>
          <p:nvPr/>
        </p:nvSpPr>
        <p:spPr>
          <a:xfrm>
            <a:off x="6263640" y="5303520"/>
            <a:ext cx="5120640" cy="685800"/>
          </a:xfrm>
          <a:prstGeom prst="rect">
            <a:avLst/>
          </a:prstGeom>
          <a:noFill/>
        </p:spPr>
        <p:txBody>
          <a:bodyPr wrap="square">
            <a:spAutoFit/>
          </a:bodyPr>
          <a:lstStyle/>
          <a:p>
            <a:pPr>
              <a:defRPr sz="1400" b="0">
                <a:solidFill>
                  <a:srgbClr val="232323"/>
                </a:solidFill>
              </a:defRPr>
            </a:pPr>
            <a:r>
              <a:t>Previous success is the strongest descriptive signal: 91.3% subscribed, compared with 40.7% where the previous outcome was unknown.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B42"/>
                </a:solidFill>
              </a:defRPr>
            </a:pPr>
            <a:r>
              <a:t>6. Campaign Timing</a:t>
            </a:r>
          </a:p>
        </p:txBody>
      </p:sp>
      <p:sp>
        <p:nvSpPr>
          <p:cNvPr id="4" name="TextBox 3"/>
          <p:cNvSpPr txBox="1"/>
          <p:nvPr/>
        </p:nvSpPr>
        <p:spPr>
          <a:xfrm>
            <a:off x="621792" y="960120"/>
            <a:ext cx="10789920" cy="411480"/>
          </a:xfrm>
          <a:prstGeom prst="rect">
            <a:avLst/>
          </a:prstGeom>
          <a:noFill/>
        </p:spPr>
        <p:txBody>
          <a:bodyPr wrap="none">
            <a:spAutoFit/>
          </a:bodyPr>
          <a:lstStyle/>
          <a:p>
            <a:pPr>
              <a:defRPr sz="1200">
                <a:solidFill>
                  <a:srgbClr val="2A5B8C"/>
                </a:solidFill>
              </a:defRPr>
            </a:pPr>
            <a:r>
              <a:t>Subscription rate varies substantially by month</a:t>
            </a:r>
          </a:p>
        </p:txBody>
      </p:sp>
      <p:pic>
        <p:nvPicPr>
          <p:cNvPr id="5" name="Picture 4" descr="month.png"/>
          <p:cNvPicPr>
            <a:picLocks noChangeAspect="1"/>
          </p:cNvPicPr>
          <p:nvPr/>
        </p:nvPicPr>
        <p:blipFill>
          <a:blip r:embed="rId2"/>
          <a:stretch>
            <a:fillRect/>
          </a:stretch>
        </p:blipFill>
        <p:spPr>
          <a:xfrm>
            <a:off x="822960" y="1234440"/>
            <a:ext cx="6583680" cy="3231567"/>
          </a:xfrm>
          <a:prstGeom prst="rect">
            <a:avLst/>
          </a:prstGeom>
        </p:spPr>
      </p:pic>
      <p:sp>
        <p:nvSpPr>
          <p:cNvPr id="6" name="TextBox 5"/>
          <p:cNvSpPr txBox="1"/>
          <p:nvPr/>
        </p:nvSpPr>
        <p:spPr>
          <a:xfrm>
            <a:off x="7772400" y="1508760"/>
            <a:ext cx="3291840" cy="3200400"/>
          </a:xfrm>
          <a:prstGeom prst="rect">
            <a:avLst/>
          </a:prstGeom>
          <a:noFill/>
        </p:spPr>
        <p:txBody>
          <a:bodyPr wrap="square">
            <a:spAutoFit/>
          </a:bodyPr>
          <a:lstStyle/>
          <a:p>
            <a:pPr>
              <a:spcAft>
                <a:spcPts val="1000"/>
              </a:spcAft>
              <a:defRPr sz="1600">
                <a:solidFill>
                  <a:srgbClr val="232323"/>
                </a:solidFill>
              </a:defRPr>
            </a:pPr>
            <a:r>
              <a:t>March: 89.9%</a:t>
            </a:r>
          </a:p>
          <a:p>
            <a:pPr>
              <a:spcAft>
                <a:spcPts val="1000"/>
              </a:spcAft>
              <a:defRPr sz="1600">
                <a:solidFill>
                  <a:srgbClr val="232323"/>
                </a:solidFill>
              </a:defRPr>
            </a:pPr>
            <a:r>
              <a:t>December: 90.9%</a:t>
            </a:r>
          </a:p>
          <a:p>
            <a:pPr>
              <a:spcAft>
                <a:spcPts val="1000"/>
              </a:spcAft>
              <a:defRPr sz="1600">
                <a:solidFill>
                  <a:srgbClr val="232323"/>
                </a:solidFill>
              </a:defRPr>
            </a:pPr>
            <a:r>
              <a:t>September: 84.3%</a:t>
            </a:r>
          </a:p>
          <a:p>
            <a:pPr>
              <a:spcAft>
                <a:spcPts val="1000"/>
              </a:spcAft>
              <a:defRPr sz="1600">
                <a:solidFill>
                  <a:srgbClr val="232323"/>
                </a:solidFill>
              </a:defRPr>
            </a:pPr>
            <a:r>
              <a:t>October: 82.4%</a:t>
            </a:r>
          </a:p>
          <a:p>
            <a:pPr>
              <a:spcAft>
                <a:spcPts val="1000"/>
              </a:spcAft>
              <a:defRPr sz="1600">
                <a:solidFill>
                  <a:srgbClr val="232323"/>
                </a:solidFill>
              </a:defRPr>
            </a:pPr>
            <a:r>
              <a:t>July: 41.4%</a:t>
            </a:r>
          </a:p>
        </p:txBody>
      </p:sp>
      <p:sp>
        <p:nvSpPr>
          <p:cNvPr id="7" name="TextBox 6"/>
          <p:cNvSpPr txBox="1"/>
          <p:nvPr/>
        </p:nvSpPr>
        <p:spPr>
          <a:xfrm>
            <a:off x="868680" y="5074920"/>
            <a:ext cx="10424160" cy="777240"/>
          </a:xfrm>
          <a:prstGeom prst="rect">
            <a:avLst/>
          </a:prstGeom>
          <a:noFill/>
        </p:spPr>
        <p:txBody>
          <a:bodyPr wrap="square">
            <a:spAutoFit/>
          </a:bodyPr>
          <a:lstStyle/>
          <a:p>
            <a:pPr>
              <a:defRPr sz="1500" b="0">
                <a:solidFill>
                  <a:srgbClr val="232323"/>
                </a:solidFill>
              </a:defRPr>
            </a:pPr>
            <a:r>
              <a:t>Insight: Campaign timing may matter. However, monthly differences should be investigated further before changing campaign schedules because the dataset is observational.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B42"/>
                </a:solidFill>
              </a:defRPr>
            </a:pPr>
            <a:r>
              <a:t>7. Major Findings</a:t>
            </a:r>
          </a:p>
        </p:txBody>
      </p:sp>
      <p:sp>
        <p:nvSpPr>
          <p:cNvPr id="4" name="TextBox 3"/>
          <p:cNvSpPr txBox="1"/>
          <p:nvPr/>
        </p:nvSpPr>
        <p:spPr>
          <a:xfrm>
            <a:off x="822960" y="1325880"/>
            <a:ext cx="10424160" cy="4389120"/>
          </a:xfrm>
          <a:prstGeom prst="rect">
            <a:avLst/>
          </a:prstGeom>
          <a:noFill/>
        </p:spPr>
        <p:txBody>
          <a:bodyPr wrap="square">
            <a:spAutoFit/>
          </a:bodyPr>
          <a:lstStyle/>
          <a:p>
            <a:pPr>
              <a:spcAft>
                <a:spcPts val="1000"/>
              </a:spcAft>
              <a:defRPr sz="1700">
                <a:solidFill>
                  <a:srgbClr val="232323"/>
                </a:solidFill>
              </a:defRPr>
            </a:pPr>
            <a:r>
              <a:t>Overall subscription rate is 47.4%, so the campaign converted nearly half of the customers in this dataset.</a:t>
            </a:r>
          </a:p>
          <a:p>
            <a:pPr>
              <a:spcAft>
                <a:spcPts val="1000"/>
              </a:spcAft>
              <a:defRPr sz="1700">
                <a:solidFill>
                  <a:srgbClr val="232323"/>
                </a:solidFill>
              </a:defRPr>
            </a:pPr>
            <a:r>
              <a:t>Previous campaign success is a major differentiator: 91.3% of customers with a previous successful outcome subscribed.</a:t>
            </a:r>
          </a:p>
          <a:p>
            <a:pPr>
              <a:spcAft>
                <a:spcPts val="1000"/>
              </a:spcAft>
              <a:defRPr sz="1700">
                <a:solidFill>
                  <a:srgbClr val="232323"/>
                </a:solidFill>
              </a:defRPr>
            </a:pPr>
            <a:r>
              <a:t>Students and retirees show the highest job-level subscription rates, suggesting useful segment opportunities.</a:t>
            </a:r>
          </a:p>
          <a:p>
            <a:pPr>
              <a:spcAft>
                <a:spcPts val="1000"/>
              </a:spcAft>
              <a:defRPr sz="1700">
                <a:solidFill>
                  <a:srgbClr val="232323"/>
                </a:solidFill>
              </a:defRPr>
            </a:pPr>
            <a:r>
              <a:t>Tertiary-educated customers have a higher subscription rate than primary-educated customers.</a:t>
            </a:r>
          </a:p>
          <a:p>
            <a:pPr>
              <a:spcAft>
                <a:spcPts val="1000"/>
              </a:spcAft>
              <a:defRPr sz="1700">
                <a:solidFill>
                  <a:srgbClr val="232323"/>
                </a:solidFill>
              </a:defRPr>
            </a:pPr>
            <a:r>
              <a:t>Cellular contacts outperform the unknown contact category, indicating that contact quality/channel availability matters.</a:t>
            </a:r>
          </a:p>
          <a:p>
            <a:pPr>
              <a:spcAft>
                <a:spcPts val="1000"/>
              </a:spcAft>
              <a:defRPr sz="1700">
                <a:solidFill>
                  <a:srgbClr val="232323"/>
                </a:solidFill>
              </a:defRPr>
            </a:pPr>
            <a:r>
              <a:t>Subscription rates vary strongly by month, suggesting a potential timing effect.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B42"/>
                </a:solidFill>
              </a:defRPr>
            </a:pPr>
            <a:r>
              <a:t>8. Business Recommendations</a:t>
            </a:r>
          </a:p>
        </p:txBody>
      </p:sp>
      <p:sp>
        <p:nvSpPr>
          <p:cNvPr id="4" name="TextBox 3"/>
          <p:cNvSpPr txBox="1"/>
          <p:nvPr/>
        </p:nvSpPr>
        <p:spPr>
          <a:xfrm>
            <a:off x="777240" y="1234440"/>
            <a:ext cx="502920" cy="457200"/>
          </a:xfrm>
          <a:prstGeom prst="rect">
            <a:avLst/>
          </a:prstGeom>
          <a:noFill/>
        </p:spPr>
        <p:txBody>
          <a:bodyPr wrap="square">
            <a:spAutoFit/>
          </a:bodyPr>
          <a:lstStyle/>
          <a:p>
            <a:pPr>
              <a:defRPr sz="2000" b="1">
                <a:solidFill>
                  <a:srgbClr val="2A5B8C"/>
                </a:solidFill>
              </a:defRPr>
            </a:pPr>
            <a:r>
              <a:t>1</a:t>
            </a:r>
          </a:p>
        </p:txBody>
      </p:sp>
      <p:sp>
        <p:nvSpPr>
          <p:cNvPr id="5" name="TextBox 4"/>
          <p:cNvSpPr txBox="1"/>
          <p:nvPr/>
        </p:nvSpPr>
        <p:spPr>
          <a:xfrm>
            <a:off x="1371600" y="1234440"/>
            <a:ext cx="2926080" cy="365760"/>
          </a:xfrm>
          <a:prstGeom prst="rect">
            <a:avLst/>
          </a:prstGeom>
          <a:noFill/>
        </p:spPr>
        <p:txBody>
          <a:bodyPr wrap="square">
            <a:spAutoFit/>
          </a:bodyPr>
          <a:lstStyle/>
          <a:p>
            <a:pPr>
              <a:defRPr sz="1600" b="1">
                <a:solidFill>
                  <a:srgbClr val="182B42"/>
                </a:solidFill>
              </a:defRPr>
            </a:pPr>
            <a:r>
              <a:t>Prioritize high-intent customers</a:t>
            </a:r>
          </a:p>
        </p:txBody>
      </p:sp>
      <p:sp>
        <p:nvSpPr>
          <p:cNvPr id="6" name="TextBox 5"/>
          <p:cNvSpPr txBox="1"/>
          <p:nvPr/>
        </p:nvSpPr>
        <p:spPr>
          <a:xfrm>
            <a:off x="4343400" y="1234440"/>
            <a:ext cx="6858000" cy="548640"/>
          </a:xfrm>
          <a:prstGeom prst="rect">
            <a:avLst/>
          </a:prstGeom>
          <a:noFill/>
        </p:spPr>
        <p:txBody>
          <a:bodyPr wrap="square">
            <a:spAutoFit/>
          </a:bodyPr>
          <a:lstStyle/>
          <a:p>
            <a:pPr>
              <a:defRPr sz="1500" b="0">
                <a:solidFill>
                  <a:srgbClr val="232323"/>
                </a:solidFill>
              </a:defRPr>
            </a:pPr>
            <a:r>
              <a:t>Use previous successful campaign outcomes to identify customers with demonstrated interest.</a:t>
            </a:r>
          </a:p>
        </p:txBody>
      </p:sp>
      <p:sp>
        <p:nvSpPr>
          <p:cNvPr id="7" name="TextBox 6"/>
          <p:cNvSpPr txBox="1"/>
          <p:nvPr/>
        </p:nvSpPr>
        <p:spPr>
          <a:xfrm>
            <a:off x="777240" y="2167128"/>
            <a:ext cx="502920" cy="457200"/>
          </a:xfrm>
          <a:prstGeom prst="rect">
            <a:avLst/>
          </a:prstGeom>
          <a:noFill/>
        </p:spPr>
        <p:txBody>
          <a:bodyPr wrap="square">
            <a:spAutoFit/>
          </a:bodyPr>
          <a:lstStyle/>
          <a:p>
            <a:pPr>
              <a:defRPr sz="2000" b="1">
                <a:solidFill>
                  <a:srgbClr val="2A5B8C"/>
                </a:solidFill>
              </a:defRPr>
            </a:pPr>
            <a:r>
              <a:t>2</a:t>
            </a:r>
          </a:p>
        </p:txBody>
      </p:sp>
      <p:sp>
        <p:nvSpPr>
          <p:cNvPr id="8" name="TextBox 7"/>
          <p:cNvSpPr txBox="1"/>
          <p:nvPr/>
        </p:nvSpPr>
        <p:spPr>
          <a:xfrm>
            <a:off x="1371600" y="2167128"/>
            <a:ext cx="2926080" cy="365760"/>
          </a:xfrm>
          <a:prstGeom prst="rect">
            <a:avLst/>
          </a:prstGeom>
          <a:noFill/>
        </p:spPr>
        <p:txBody>
          <a:bodyPr wrap="square">
            <a:spAutoFit/>
          </a:bodyPr>
          <a:lstStyle/>
          <a:p>
            <a:pPr>
              <a:defRPr sz="1600" b="1">
                <a:solidFill>
                  <a:srgbClr val="182B42"/>
                </a:solidFill>
              </a:defRPr>
            </a:pPr>
            <a:r>
              <a:t>Segment marketing campaigns</a:t>
            </a:r>
          </a:p>
        </p:txBody>
      </p:sp>
      <p:sp>
        <p:nvSpPr>
          <p:cNvPr id="9" name="TextBox 8"/>
          <p:cNvSpPr txBox="1"/>
          <p:nvPr/>
        </p:nvSpPr>
        <p:spPr>
          <a:xfrm>
            <a:off x="4343400" y="2167128"/>
            <a:ext cx="6858000" cy="548640"/>
          </a:xfrm>
          <a:prstGeom prst="rect">
            <a:avLst/>
          </a:prstGeom>
          <a:noFill/>
        </p:spPr>
        <p:txBody>
          <a:bodyPr wrap="square">
            <a:spAutoFit/>
          </a:bodyPr>
          <a:lstStyle/>
          <a:p>
            <a:pPr>
              <a:defRPr sz="1500" b="0">
                <a:solidFill>
                  <a:srgbClr val="232323"/>
                </a:solidFill>
              </a:defRPr>
            </a:pPr>
            <a:r>
              <a:t>Tailor messaging for high-performing occupational and education segments.</a:t>
            </a:r>
          </a:p>
        </p:txBody>
      </p:sp>
      <p:sp>
        <p:nvSpPr>
          <p:cNvPr id="10" name="TextBox 9"/>
          <p:cNvSpPr txBox="1"/>
          <p:nvPr/>
        </p:nvSpPr>
        <p:spPr>
          <a:xfrm>
            <a:off x="777240" y="3099816"/>
            <a:ext cx="502920" cy="457200"/>
          </a:xfrm>
          <a:prstGeom prst="rect">
            <a:avLst/>
          </a:prstGeom>
          <a:noFill/>
        </p:spPr>
        <p:txBody>
          <a:bodyPr wrap="square">
            <a:spAutoFit/>
          </a:bodyPr>
          <a:lstStyle/>
          <a:p>
            <a:pPr>
              <a:defRPr sz="2000" b="1">
                <a:solidFill>
                  <a:srgbClr val="2A5B8C"/>
                </a:solidFill>
              </a:defRPr>
            </a:pPr>
            <a:r>
              <a:t>3</a:t>
            </a:r>
          </a:p>
        </p:txBody>
      </p:sp>
      <p:sp>
        <p:nvSpPr>
          <p:cNvPr id="11" name="TextBox 10"/>
          <p:cNvSpPr txBox="1"/>
          <p:nvPr/>
        </p:nvSpPr>
        <p:spPr>
          <a:xfrm>
            <a:off x="1371600" y="3099816"/>
            <a:ext cx="2926080" cy="365760"/>
          </a:xfrm>
          <a:prstGeom prst="rect">
            <a:avLst/>
          </a:prstGeom>
          <a:noFill/>
        </p:spPr>
        <p:txBody>
          <a:bodyPr wrap="square">
            <a:spAutoFit/>
          </a:bodyPr>
          <a:lstStyle/>
          <a:p>
            <a:pPr>
              <a:defRPr sz="1600" b="1">
                <a:solidFill>
                  <a:srgbClr val="182B42"/>
                </a:solidFill>
              </a:defRPr>
            </a:pPr>
            <a:r>
              <a:t>Improve contact-data quality</a:t>
            </a:r>
          </a:p>
        </p:txBody>
      </p:sp>
      <p:sp>
        <p:nvSpPr>
          <p:cNvPr id="12" name="TextBox 11"/>
          <p:cNvSpPr txBox="1"/>
          <p:nvPr/>
        </p:nvSpPr>
        <p:spPr>
          <a:xfrm>
            <a:off x="4343400" y="3099816"/>
            <a:ext cx="6858000" cy="548640"/>
          </a:xfrm>
          <a:prstGeom prst="rect">
            <a:avLst/>
          </a:prstGeom>
          <a:noFill/>
        </p:spPr>
        <p:txBody>
          <a:bodyPr wrap="square">
            <a:spAutoFit/>
          </a:bodyPr>
          <a:lstStyle/>
          <a:p>
            <a:pPr>
              <a:defRPr sz="1500" b="0">
                <a:solidFill>
                  <a:srgbClr val="232323"/>
                </a:solidFill>
              </a:defRPr>
            </a:pPr>
            <a:r>
              <a:t>Encourage accurate, usable contact information and prioritize effective channels.</a:t>
            </a:r>
          </a:p>
        </p:txBody>
      </p:sp>
      <p:sp>
        <p:nvSpPr>
          <p:cNvPr id="13" name="TextBox 12"/>
          <p:cNvSpPr txBox="1"/>
          <p:nvPr/>
        </p:nvSpPr>
        <p:spPr>
          <a:xfrm>
            <a:off x="777240" y="4032504"/>
            <a:ext cx="502920" cy="457200"/>
          </a:xfrm>
          <a:prstGeom prst="rect">
            <a:avLst/>
          </a:prstGeom>
          <a:noFill/>
        </p:spPr>
        <p:txBody>
          <a:bodyPr wrap="square">
            <a:spAutoFit/>
          </a:bodyPr>
          <a:lstStyle/>
          <a:p>
            <a:pPr>
              <a:defRPr sz="2000" b="1">
                <a:solidFill>
                  <a:srgbClr val="2A5B8C"/>
                </a:solidFill>
              </a:defRPr>
            </a:pPr>
            <a:r>
              <a:t>4</a:t>
            </a:r>
          </a:p>
        </p:txBody>
      </p:sp>
      <p:sp>
        <p:nvSpPr>
          <p:cNvPr id="14" name="TextBox 13"/>
          <p:cNvSpPr txBox="1"/>
          <p:nvPr/>
        </p:nvSpPr>
        <p:spPr>
          <a:xfrm>
            <a:off x="1371600" y="4032504"/>
            <a:ext cx="2926080" cy="365760"/>
          </a:xfrm>
          <a:prstGeom prst="rect">
            <a:avLst/>
          </a:prstGeom>
          <a:noFill/>
        </p:spPr>
        <p:txBody>
          <a:bodyPr wrap="square">
            <a:spAutoFit/>
          </a:bodyPr>
          <a:lstStyle/>
          <a:p>
            <a:pPr>
              <a:defRPr sz="1600" b="1">
                <a:solidFill>
                  <a:srgbClr val="182B42"/>
                </a:solidFill>
              </a:defRPr>
            </a:pPr>
            <a:r>
              <a:t>Test campaign timing</a:t>
            </a:r>
          </a:p>
        </p:txBody>
      </p:sp>
      <p:sp>
        <p:nvSpPr>
          <p:cNvPr id="15" name="TextBox 14"/>
          <p:cNvSpPr txBox="1"/>
          <p:nvPr/>
        </p:nvSpPr>
        <p:spPr>
          <a:xfrm>
            <a:off x="4343400" y="4032504"/>
            <a:ext cx="6858000" cy="548640"/>
          </a:xfrm>
          <a:prstGeom prst="rect">
            <a:avLst/>
          </a:prstGeom>
          <a:noFill/>
        </p:spPr>
        <p:txBody>
          <a:bodyPr wrap="square">
            <a:spAutoFit/>
          </a:bodyPr>
          <a:lstStyle/>
          <a:p>
            <a:pPr>
              <a:defRPr sz="1500" b="0">
                <a:solidFill>
                  <a:srgbClr val="232323"/>
                </a:solidFill>
              </a:defRPr>
            </a:pPr>
            <a:r>
              <a:t>Run controlled experiments around high-performing months rather than assuming seasonality is causal.</a:t>
            </a:r>
          </a:p>
        </p:txBody>
      </p:sp>
      <p:sp>
        <p:nvSpPr>
          <p:cNvPr id="16" name="TextBox 15"/>
          <p:cNvSpPr txBox="1"/>
          <p:nvPr/>
        </p:nvSpPr>
        <p:spPr>
          <a:xfrm>
            <a:off x="777240" y="4965192"/>
            <a:ext cx="502920" cy="457200"/>
          </a:xfrm>
          <a:prstGeom prst="rect">
            <a:avLst/>
          </a:prstGeom>
          <a:noFill/>
        </p:spPr>
        <p:txBody>
          <a:bodyPr wrap="square">
            <a:spAutoFit/>
          </a:bodyPr>
          <a:lstStyle/>
          <a:p>
            <a:pPr>
              <a:defRPr sz="2000" b="1">
                <a:solidFill>
                  <a:srgbClr val="2A5B8C"/>
                </a:solidFill>
              </a:defRPr>
            </a:pPr>
            <a:r>
              <a:t>5</a:t>
            </a:r>
          </a:p>
        </p:txBody>
      </p:sp>
      <p:sp>
        <p:nvSpPr>
          <p:cNvPr id="17" name="TextBox 16"/>
          <p:cNvSpPr txBox="1"/>
          <p:nvPr/>
        </p:nvSpPr>
        <p:spPr>
          <a:xfrm>
            <a:off x="1371600" y="4965192"/>
            <a:ext cx="2926080" cy="365760"/>
          </a:xfrm>
          <a:prstGeom prst="rect">
            <a:avLst/>
          </a:prstGeom>
          <a:noFill/>
        </p:spPr>
        <p:txBody>
          <a:bodyPr wrap="square">
            <a:spAutoFit/>
          </a:bodyPr>
          <a:lstStyle/>
          <a:p>
            <a:pPr>
              <a:defRPr sz="1600" b="1">
                <a:solidFill>
                  <a:srgbClr val="182B42"/>
                </a:solidFill>
              </a:defRPr>
            </a:pPr>
            <a:r>
              <a:t>Use analytics continuously</a:t>
            </a:r>
          </a:p>
        </p:txBody>
      </p:sp>
      <p:sp>
        <p:nvSpPr>
          <p:cNvPr id="18" name="TextBox 17"/>
          <p:cNvSpPr txBox="1"/>
          <p:nvPr/>
        </p:nvSpPr>
        <p:spPr>
          <a:xfrm>
            <a:off x="4343400" y="4965192"/>
            <a:ext cx="6858000" cy="548640"/>
          </a:xfrm>
          <a:prstGeom prst="rect">
            <a:avLst/>
          </a:prstGeom>
          <a:noFill/>
        </p:spPr>
        <p:txBody>
          <a:bodyPr wrap="square">
            <a:spAutoFit/>
          </a:bodyPr>
          <a:lstStyle/>
          <a:p>
            <a:pPr>
              <a:defRPr sz="1500" b="0">
                <a:solidFill>
                  <a:srgbClr val="232323"/>
                </a:solidFill>
              </a:defRPr>
            </a:pPr>
            <a:r>
              <a:t>Track subscription rate, segment conversion and campaign efficiency to refine targeting.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822960"/>
            <a:ext cx="10515600" cy="548640"/>
          </a:xfrm>
          <a:prstGeom prst="rect">
            <a:avLst/>
          </a:prstGeom>
          <a:noFill/>
        </p:spPr>
        <p:txBody>
          <a:bodyPr wrap="square">
            <a:spAutoFit/>
          </a:bodyPr>
          <a:lstStyle/>
          <a:p>
            <a:pPr>
              <a:defRPr sz="3000" b="1">
                <a:solidFill>
                  <a:srgbClr val="FFFFFF"/>
                </a:solidFill>
              </a:defRPr>
            </a:pPr>
            <a:r>
              <a:t>Conclusion</a:t>
            </a:r>
          </a:p>
        </p:txBody>
      </p:sp>
      <p:sp>
        <p:nvSpPr>
          <p:cNvPr id="4" name="TextBox 3"/>
          <p:cNvSpPr txBox="1"/>
          <p:nvPr/>
        </p:nvSpPr>
        <p:spPr>
          <a:xfrm>
            <a:off x="731520" y="1828800"/>
            <a:ext cx="10241280" cy="1554480"/>
          </a:xfrm>
          <a:prstGeom prst="rect">
            <a:avLst/>
          </a:prstGeom>
          <a:noFill/>
        </p:spPr>
        <p:txBody>
          <a:bodyPr wrap="square">
            <a:spAutoFit/>
          </a:bodyPr>
          <a:lstStyle/>
          <a:p>
            <a:pPr>
              <a:defRPr sz="2000" b="0">
                <a:solidFill>
                  <a:srgbClr val="FFFFFF"/>
                </a:solidFill>
              </a:defRPr>
            </a:pPr>
            <a:r>
              <a:t>The analysis shows that customer response is not evenly distributed across the bank's customer base. Previous campaign outcome, occupation, education, contact method and campaign timing are associated with meaningful differences in subscription rates.</a:t>
            </a:r>
          </a:p>
        </p:txBody>
      </p:sp>
      <p:sp>
        <p:nvSpPr>
          <p:cNvPr id="5" name="TextBox 4"/>
          <p:cNvSpPr txBox="1"/>
          <p:nvPr/>
        </p:nvSpPr>
        <p:spPr>
          <a:xfrm>
            <a:off x="731520" y="3886200"/>
            <a:ext cx="2194560" cy="365760"/>
          </a:xfrm>
          <a:prstGeom prst="rect">
            <a:avLst/>
          </a:prstGeom>
          <a:noFill/>
        </p:spPr>
        <p:txBody>
          <a:bodyPr wrap="square">
            <a:spAutoFit/>
          </a:bodyPr>
          <a:lstStyle/>
          <a:p>
            <a:pPr>
              <a:defRPr sz="1600" b="1">
                <a:solidFill>
                  <a:srgbClr val="AACDE6"/>
                </a:solidFill>
              </a:defRPr>
            </a:pPr>
            <a:r>
              <a:t>Business takeaway</a:t>
            </a:r>
          </a:p>
        </p:txBody>
      </p:sp>
      <p:sp>
        <p:nvSpPr>
          <p:cNvPr id="6" name="TextBox 5"/>
          <p:cNvSpPr txBox="1"/>
          <p:nvPr/>
        </p:nvSpPr>
        <p:spPr>
          <a:xfrm>
            <a:off x="731520" y="4343400"/>
            <a:ext cx="10241280" cy="1188720"/>
          </a:xfrm>
          <a:prstGeom prst="rect">
            <a:avLst/>
          </a:prstGeom>
          <a:noFill/>
        </p:spPr>
        <p:txBody>
          <a:bodyPr wrap="square">
            <a:spAutoFit/>
          </a:bodyPr>
          <a:lstStyle/>
          <a:p>
            <a:pPr>
              <a:defRPr sz="2000" b="1">
                <a:solidFill>
                  <a:srgbClr val="FFFFFF"/>
                </a:solidFill>
              </a:defRPr>
            </a:pPr>
            <a:r>
              <a:t>The bank can improve campaign efficiency by moving from broad outreach toward evidence-based customer segmentation and targeted follow-up.</a:t>
            </a:r>
          </a:p>
        </p:txBody>
      </p:sp>
      <p:sp>
        <p:nvSpPr>
          <p:cNvPr id="7" name="TextBox 6"/>
          <p:cNvSpPr txBox="1"/>
          <p:nvPr/>
        </p:nvSpPr>
        <p:spPr>
          <a:xfrm>
            <a:off x="731520" y="5897880"/>
            <a:ext cx="10515600" cy="365760"/>
          </a:xfrm>
          <a:prstGeom prst="rect">
            <a:avLst/>
          </a:prstGeom>
          <a:noFill/>
        </p:spPr>
        <p:txBody>
          <a:bodyPr wrap="square">
            <a:spAutoFit/>
          </a:bodyPr>
          <a:lstStyle/>
          <a:p>
            <a:pPr>
              <a:defRPr sz="1200" b="0">
                <a:solidFill>
                  <a:srgbClr val="D2E1F0"/>
                </a:solidFill>
              </a:defRPr>
            </a:pPr>
            <a:r>
              <a:t>Python • Pandas • Matplotlib • Seaborn • Exploratory Data Analysis • Business Analytics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121</TotalTime>
  <Words>605</Words>
  <Application>Microsoft Macintosh PowerPoint</Application>
  <PresentationFormat>Widescreen</PresentationFormat>
  <Paragraphs>71</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Mr. K Malatji</cp:lastModifiedBy>
  <cp:revision>2</cp:revision>
  <dcterms:created xsi:type="dcterms:W3CDTF">2013-01-27T09:14:16Z</dcterms:created>
  <dcterms:modified xsi:type="dcterms:W3CDTF">2026-07-29T11:52:37Z</dcterms:modified>
  <cp:category/>
</cp:coreProperties>
</file>